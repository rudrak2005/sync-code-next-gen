
<file path=[Content_Types].xml><?xml version="1.0" encoding="utf-8"?>
<Types xmlns="http://schemas.openxmlformats.org/package/2006/content-types">
  <Default ContentType="image/svg+xml" Extension="svg"/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-1-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" TargetMode="External"/><Relationship Id="rId6" Type="http://schemas.openxmlformats.org/officeDocument/2006/relationships/hyperlink" Target="https://datatracker.ietf.org/doc/html/rfc6455" TargetMode="External"/><Relationship Id="rId9" Type="http://schemas.openxmlformats.org/officeDocument/2006/relationships/hyperlink" Target="https://socket.io/docs/" TargetMode="External"/><Relationship Id="rId12" Type="http://schemas.openxmlformats.org/officeDocument/2006/relationships/hyperlink" Target="https://react.dev/" TargetMode="External"/><Relationship Id="rId15" Type="http://schemas.openxmlformats.org/officeDocument/2006/relationships/hyperlink" Target="https://microsoft.github.io/monaco-editor/" TargetMode="External"/><Relationship Id="rId18" Type="http://schemas.openxmlformats.org/officeDocument/2006/relationships/hyperlink" Target="https://www.mongodb.com/docs/" TargetMode="External"/><Relationship Id="rId21" Type="http://schemas.openxmlformats.org/officeDocument/2006/relationships/hyperlink" Target="https://developer.mozilla.org/en-US/docs/Web/API/Web_Crypto_API" TargetMode="External"/><Relationship Id="rId24" Type="http://schemas.openxmlformats.org/officeDocument/2006/relationships/hyperlink" Target="https://webrtc.org/" TargetMode="External"/><Relationship Id="rId27" Type="http://schemas.openxmlformats.org/officeDocument/2006/relationships/hyperlink" Target="https://github.com/rudrak2005/SYNC-CODE-AI" TargetMode="External"/><Relationship Id="rId30" Type="http://schemas.openxmlformats.org/officeDocument/2006/relationships/hyperlink" Target="https://www.glbitm.org/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4" Type="http://schemas.openxmlformats.org/officeDocument/2006/relationships/image" Target="../media/image-7-1.png"/><Relationship Id="rId5" Type="http://schemas.openxmlformats.org/officeDocument/2006/relationships/image" Target="../media/image-7-2.svg"/><Relationship Id="rId7" Type="http://schemas.openxmlformats.org/officeDocument/2006/relationships/image" Target="../media/image-7-1.png"/><Relationship Id="rId8" Type="http://schemas.openxmlformats.org/officeDocument/2006/relationships/image" Target="../media/image-7-2.svg"/><Relationship Id="rId10" Type="http://schemas.openxmlformats.org/officeDocument/2006/relationships/image" Target="../media/image-7-1.png"/><Relationship Id="rId11" Type="http://schemas.openxmlformats.org/officeDocument/2006/relationships/image" Target="../media/image-7-2.svg"/><Relationship Id="rId13" Type="http://schemas.openxmlformats.org/officeDocument/2006/relationships/image" Target="../media/image-7-1.png"/><Relationship Id="rId14" Type="http://schemas.openxmlformats.org/officeDocument/2006/relationships/image" Target="../media/image-7-2.svg"/><Relationship Id="rId16" Type="http://schemas.openxmlformats.org/officeDocument/2006/relationships/image" Target="../media/image-7-1.png"/><Relationship Id="rId17" Type="http://schemas.openxmlformats.org/officeDocument/2006/relationships/image" Target="../media/image-7-2.svg"/><Relationship Id="rId19" Type="http://schemas.openxmlformats.org/officeDocument/2006/relationships/image" Target="../media/image-7-1.png"/><Relationship Id="rId20" Type="http://schemas.openxmlformats.org/officeDocument/2006/relationships/image" Target="../media/image-7-2.svg"/><Relationship Id="rId22" Type="http://schemas.openxmlformats.org/officeDocument/2006/relationships/image" Target="../media/image-7-1.png"/><Relationship Id="rId23" Type="http://schemas.openxmlformats.org/officeDocument/2006/relationships/image" Target="../media/image-7-2.svg"/><Relationship Id="rId25" Type="http://schemas.openxmlformats.org/officeDocument/2006/relationships/image" Target="../media/image-7-1.png"/><Relationship Id="rId26" Type="http://schemas.openxmlformats.org/officeDocument/2006/relationships/image" Target="../media/image-7-2.svg"/><Relationship Id="rId28" Type="http://schemas.openxmlformats.org/officeDocument/2006/relationships/image" Target="../media/image-7-1.png"/><Relationship Id="rId29" Type="http://schemas.openxmlformats.org/officeDocument/2006/relationships/image" Target="../media/image-7-2.svg"/><Relationship Id="rId31" Type="http://schemas.openxmlformats.org/officeDocument/2006/relationships/slideLayout" Target="../slideLayouts/slideLayout2.xml"/><Relationship Id="rId3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1215" y="0"/>
            <a:ext cx="4800500" cy="6858000"/>
          </a:xfrm>
          <a:custGeom>
            <a:rect b="b" l="l" r="r" t="t"/>
            <a:pathLst>
              <a:path extrusionOk="0" h="100000" w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3" name="Google Shape;43;p1"/>
          <p:cNvSpPr/>
          <p:nvPr/>
        </p:nvSpPr>
        <p:spPr>
          <a:xfrm>
            <a:off x="661475" y="585093"/>
            <a:ext cx="6297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SyncCode NextGen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661475" y="1239341"/>
            <a:ext cx="6297000" cy="28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200"/>
              <a:buFont typeface="Marcellus"/>
              <a:buNone/>
            </a:pPr>
            <a:r>
              <a:rPr b="0" i="0" lang="en-US" sz="42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AI-Assisted Real-Time Collaborative Development Environment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661475" y="4188520"/>
            <a:ext cx="62970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050"/>
              <a:buFont typeface="Montserrat"/>
              <a:buNone/>
            </a:pPr>
            <a:r>
              <a:rPr b="0" i="1" lang="en-US" sz="10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 unified browser-based IDE integrating real-time synchronisation, intelligent AI assistance, and privacy-first security — purpose-built for modern collaborative software engineering.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661475" y="4635698"/>
            <a:ext cx="6297000" cy="19200"/>
          </a:xfrm>
          <a:prstGeom prst="roundRect">
            <a:avLst>
              <a:gd fmla="val 49999" name="adj"/>
            </a:avLst>
          </a:prstGeom>
          <a:solidFill>
            <a:srgbClr val="67534F">
              <a:alpha val="5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"/>
          <p:cNvSpPr/>
          <p:nvPr/>
        </p:nvSpPr>
        <p:spPr>
          <a:xfrm>
            <a:off x="661475" y="4908352"/>
            <a:ext cx="1185600" cy="206400"/>
          </a:xfrm>
          <a:prstGeom prst="roundRect">
            <a:avLst>
              <a:gd fmla="val 22130" name="adj"/>
            </a:avLst>
          </a:prstGeom>
          <a:noFill/>
          <a:ln cap="flat" cmpd="sng" w="12700">
            <a:solidFill>
              <a:srgbClr val="FF9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742931" y="4949031"/>
            <a:ext cx="1632300" cy="1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F954F"/>
              </a:buClr>
              <a:buSzPts val="850"/>
              <a:buFont typeface="Montserrat"/>
              <a:buNone/>
            </a:pPr>
            <a:r>
              <a:rPr b="0" i="0" lang="en-US" sz="850" u="none" cap="none" strike="noStrike">
                <a:solidFill>
                  <a:srgbClr val="FF954F"/>
                </a:solidFill>
                <a:latin typeface="Montserrat"/>
                <a:ea typeface="Montserrat"/>
                <a:cs typeface="Montserrat"/>
                <a:sym typeface="Montserrat"/>
              </a:rPr>
              <a:t>LEAD DEVELOPER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661475" y="5153620"/>
            <a:ext cx="2982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1500"/>
              <a:buFont typeface="Marcellus"/>
              <a:buNone/>
            </a:pPr>
            <a:r>
              <a:rPr b="0" i="0" lang="en-US" sz="15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Rudraksh Kumar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661475" y="5505053"/>
            <a:ext cx="29826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050"/>
              <a:buFont typeface="Montserrat"/>
              <a:buNone/>
            </a:pPr>
            <a:r>
              <a:rPr b="0" i="0" lang="en-US" sz="10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with Sandeep Kushwaha · Sagar Gautam · Sanjay Prajapati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3981946" y="4908352"/>
            <a:ext cx="864900" cy="206400"/>
          </a:xfrm>
          <a:prstGeom prst="roundRect">
            <a:avLst>
              <a:gd fmla="val 22130" name="adj"/>
            </a:avLst>
          </a:prstGeom>
          <a:noFill/>
          <a:ln cap="flat" cmpd="sng" w="12700">
            <a:solidFill>
              <a:srgbClr val="FF9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"/>
          <p:cNvSpPr/>
          <p:nvPr/>
        </p:nvSpPr>
        <p:spPr>
          <a:xfrm>
            <a:off x="4063402" y="4949031"/>
            <a:ext cx="1311600" cy="1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F954F"/>
              </a:buClr>
              <a:buSzPts val="850"/>
              <a:buFont typeface="Montserrat"/>
              <a:buNone/>
            </a:pPr>
            <a:r>
              <a:rPr b="0" i="0" lang="en-US" sz="850" u="none" cap="none" strike="noStrike">
                <a:solidFill>
                  <a:srgbClr val="FF954F"/>
                </a:solidFill>
                <a:latin typeface="Montserrat"/>
                <a:ea typeface="Montserrat"/>
                <a:cs typeface="Montserrat"/>
                <a:sym typeface="Montserrat"/>
              </a:rPr>
              <a:t>INSTITUTION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3981946" y="5153620"/>
            <a:ext cx="29826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1500"/>
              <a:buFont typeface="Marcellus"/>
              <a:buNone/>
            </a:pPr>
            <a:r>
              <a:rPr b="0" i="0" lang="en-US" sz="15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GL Bajaj Institute of Technology &amp; Management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2177301" y="6457255"/>
            <a:ext cx="53103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9525" spcFirstLastPara="1" rIns="992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000"/>
              <a:buFont typeface="Montserrat"/>
              <a:buNone/>
            </a:pPr>
            <a:r>
              <a:rPr b="0" i="0" lang="en-US" sz="10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SyncCode NextGen • GL Bajaj Institute of Technology &amp; Management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4384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Problem Statement &amp; Motivation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661475" y="1708845"/>
            <a:ext cx="10868745" cy="98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Contemporary collaborative software engineering remains deeply fragmented. Developers are forced to context-switch across standalone editors, external chat platforms, file-sharing services, separate version-control dashboards, and disconnected AI utility tools — each operating in isolation, with no unified state or shared awareness.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25350" y="2904133"/>
            <a:ext cx="5476043" cy="3206552"/>
          </a:xfrm>
          <a:prstGeom prst="roundRect">
            <a:avLst>
              <a:gd name="adj" fmla="val 4244"/>
            </a:avLst>
          </a:prstGeom>
          <a:solidFill>
            <a:srgbClr val="532418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14357" y="3093145"/>
            <a:ext cx="5098029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The Fragmentation Problem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14357" y="3635375"/>
            <a:ext cx="5098029" cy="216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single environment unifies editing, communication, and versioning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cursor and presence awareness is absent in most IDEs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tools operate outside the editing context, breaking developer flow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Offline recovery and encrypted persistence are rarely prioritised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3093145"/>
            <a:ext cx="5203794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Engineering Objectives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332776" y="3635375"/>
            <a:ext cx="5203794" cy="240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 a browser-native, room-based collaborative IDE with zero installation overhead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 sub-second synchronisation via Socket.IO and experimental WebRTC peering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Integrate an AI layer for code assistance, review, bug detection, and test generation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Enforce end-to-end privacy through JWT authentication, AES-GCM encryption, and isolated code execution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749187" y="6457255"/>
            <a:ext cx="5310253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SyncCode NextGen • GL Bajaj Institute of Technology &amp;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System Architecture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61475" y="967482"/>
            <a:ext cx="10868745" cy="184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SyncCode NextGen is structured as a five-layer distributed system. Each layer encapsulates a distinct engineering concern — presentation, real-time transport, application logic, persistence and security, and AI/execution services — communicating through well-defined interfaces.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04913"/>
            <a:ext cx="9753356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6744395"/>
            <a:ext cx="11478330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Arrows flow top-to-bottom during a user request and bottom-to-top during AI/execution callbacks, ensuring clean separation of concerns across the full stack.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6749187" y="7078464"/>
            <a:ext cx="5310253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SyncCode NextGen • GL Bajaj Institute of Technology &amp;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End-to-End Workflow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61475" y="967482"/>
            <a:ext cx="11478330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user interaction in SyncCode NextGen follows a deterministic, observable path through the system — from room entry to final output — ensuring consistency, recoverability, and AI augmentation at each stage.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217" y="1112738"/>
            <a:ext cx="10069161" cy="61421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03713" y="1888280"/>
            <a:ext cx="2294776" cy="730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200" spc="-22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Open &amp; Authenticate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911059" y="5036481"/>
            <a:ext cx="2294777" cy="730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200" spc="-22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Load Project &amp; Join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866535" y="2546689"/>
            <a:ext cx="2369327" cy="36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200" spc="-22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Edit &amp; Sync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57238" y="5748214"/>
            <a:ext cx="2294777" cy="730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200" spc="-22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Persist, Execute &amp; AI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494058" y="3186416"/>
            <a:ext cx="2294777" cy="36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200" spc="-22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Output &amp; Recover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61475" y="7307957"/>
            <a:ext cx="10868745" cy="229096"/>
          </a:xfrm>
          <a:prstGeom prst="roundRect">
            <a:avLst>
              <a:gd name="adj" fmla="val 17326"/>
            </a:avLst>
          </a:prstGeom>
          <a:solidFill>
            <a:srgbClr val="FFE0C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29" y="7378799"/>
            <a:ext cx="118067" cy="94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8450" y="7378799"/>
            <a:ext cx="11076901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step is independently recoverable — if a peer disconnects mid-session, the revision history and encrypted local snapshot allow full state restoration upon reconnection.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6749187" y="7778948"/>
            <a:ext cx="5310253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SyncCode NextGen • GL Bajaj Institute of Technology &amp;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8340"/>
            <a:ext cx="10868745" cy="518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00" spc="-3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Core Features &amp; Capability Pipeline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250851"/>
            <a:ext cx="10868745" cy="312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SyncCode NextGen exposes a structured capability pipeline — from raw user action through the collaboration engine, security layer, and AI/execution services — delivering a unified developer experience with no external tool switching required.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8384"/>
            <a:ext cx="5434373" cy="5552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0278" y="2335510"/>
            <a:ext cx="5156766" cy="259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Editor &amp; File State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00278" y="2655987"/>
            <a:ext cx="5156766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Monaco Editor, multi-file tabs, live cursors, presence indicators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1678384"/>
            <a:ext cx="5434373" cy="5552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34651" y="2335510"/>
            <a:ext cx="5156766" cy="259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Collaboration Engine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234651" y="2655987"/>
            <a:ext cx="5156766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Socket.IO deltas, peer sync, conflict merge, room isolation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951262"/>
            <a:ext cx="5434373" cy="5552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0278" y="3608387"/>
            <a:ext cx="5156766" cy="259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Revision &amp; Recovery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800278" y="3928864"/>
            <a:ext cx="5156766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Version snapshots, diff viewer, encrypted local backup, restore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2951262"/>
            <a:ext cx="5434373" cy="55522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34651" y="3608387"/>
            <a:ext cx="5156766" cy="259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AI &amp; Execution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6234651" y="3928864"/>
            <a:ext cx="5156766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Code assist, review, bug detection, test gen, isolated execution workers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453334"/>
            <a:ext cx="277607" cy="27761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66476" y="4496693"/>
            <a:ext cx="4860109" cy="259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Live Presence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1066476" y="4857948"/>
            <a:ext cx="4860109" cy="312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Named cursors, colour-coded per peer, real-time scroll and caret tracking</a:t>
            </a:r>
            <a:endParaRPr lang="en-US" sz="10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5374680"/>
            <a:ext cx="277607" cy="27761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66476" y="5418038"/>
            <a:ext cx="4860109" cy="259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E2EE Experiments</a:t>
            </a:r>
            <a:endParaRPr lang="en-US" sz="1550" dirty="0"/>
          </a:p>
        </p:txBody>
      </p:sp>
      <p:sp>
        <p:nvSpPr>
          <p:cNvPr id="21" name="Text 13"/>
          <p:cNvSpPr/>
          <p:nvPr/>
        </p:nvSpPr>
        <p:spPr>
          <a:xfrm>
            <a:off x="1066476" y="5779294"/>
            <a:ext cx="4860109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AES-GCM encrypted backups and room-level encryption prototypes</a:t>
            </a:r>
            <a:endParaRPr lang="en-US" sz="10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71460" y="4453334"/>
            <a:ext cx="277607" cy="27761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676461" y="4496693"/>
            <a:ext cx="4860109" cy="259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AI Agent Layer</a:t>
            </a:r>
            <a:endParaRPr lang="en-US" sz="1550" dirty="0"/>
          </a:p>
        </p:txBody>
      </p:sp>
      <p:sp>
        <p:nvSpPr>
          <p:cNvPr id="24" name="Text 15"/>
          <p:cNvSpPr/>
          <p:nvPr/>
        </p:nvSpPr>
        <p:spPr>
          <a:xfrm>
            <a:off x="6676461" y="4857948"/>
            <a:ext cx="4860109" cy="312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Gemini-compatible provider for inline assist, agent planning, and workflow automation</a:t>
            </a:r>
            <a:endParaRPr lang="en-US" sz="10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71460" y="5374680"/>
            <a:ext cx="277607" cy="27761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676461" y="5418038"/>
            <a:ext cx="4860109" cy="259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Sandboxed Execution</a:t>
            </a:r>
            <a:endParaRPr lang="en-US" sz="1550" dirty="0"/>
          </a:p>
        </p:txBody>
      </p:sp>
      <p:sp>
        <p:nvSpPr>
          <p:cNvPr id="27" name="Text 17"/>
          <p:cNvSpPr/>
          <p:nvPr/>
        </p:nvSpPr>
        <p:spPr>
          <a:xfrm>
            <a:off x="6676461" y="5779294"/>
            <a:ext cx="4860109" cy="312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Execution manager dispatches to isolated workers; output streamed back to client</a:t>
            </a:r>
            <a:endParaRPr lang="en-US" sz="1050" dirty="0"/>
          </a:p>
        </p:txBody>
      </p:sp>
      <p:sp>
        <p:nvSpPr>
          <p:cNvPr id="28" name="Text 18"/>
          <p:cNvSpPr/>
          <p:nvPr/>
        </p:nvSpPr>
        <p:spPr>
          <a:xfrm>
            <a:off x="6749187" y="6457255"/>
            <a:ext cx="5310253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SyncCode NextGen • GL Bajaj Institute of Technology &amp;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5703"/>
            <a:ext cx="10868745" cy="60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650" spc="-37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Project Structure, Implementation &amp; Security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544499" y="1362174"/>
            <a:ext cx="5244870" cy="4827191"/>
          </a:xfrm>
          <a:prstGeom prst="roundRect">
            <a:avLst>
              <a:gd name="adj" fmla="val 2423"/>
            </a:avLst>
          </a:prstGeom>
          <a:solidFill>
            <a:srgbClr val="241512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6916" y="1501676"/>
            <a:ext cx="4920036" cy="30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18" kern="0" dirty="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Repository Layout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6916" y="1962051"/>
            <a:ext cx="4920036" cy="3962797"/>
          </a:xfrm>
          <a:prstGeom prst="roundRect">
            <a:avLst>
              <a:gd name="adj" fmla="val 1722"/>
            </a:avLst>
          </a:prstGeom>
          <a:solidFill>
            <a:srgbClr val="31221F"/>
          </a:solidFill>
          <a:ln/>
        </p:spPr>
      </p:sp>
      <p:sp>
        <p:nvSpPr>
          <p:cNvPr id="6" name="Text 4"/>
          <p:cNvSpPr/>
          <p:nvPr/>
        </p:nvSpPr>
        <p:spPr>
          <a:xfrm>
            <a:off x="901777" y="2124472"/>
            <a:ext cx="4530314" cy="3637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E:\SyncCode-NextGen\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client\               (React + Vite)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src\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pages\        (Room, Auth, Dashboard)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components\   (Editor, FileTree, AI Panel)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hooks\        (useSocket, useRoom, useAI)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services\     (api.js, socket.js, ai.js)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lib\          (crypto, diff, storage)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server\               (Node.js + Express)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controllers\      (auth, room, file, exec)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routes\           (REST API definitions)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models\           (User, Room, Revision)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middleware\       (JWT, CORS, validation)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services\         (AI bridge, exec manager)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075012" y="1501676"/>
            <a:ext cx="5461459" cy="30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18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Security Architecture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75012" y="1962051"/>
            <a:ext cx="5461459" cy="11983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32677" y="2143522"/>
            <a:ext cx="5022327" cy="30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18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Authentication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332677" y="2586434"/>
            <a:ext cx="5022327" cy="392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JWT-signed tokens, bcrypt password hashing, session expiry and refresh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75012" y="3299916"/>
            <a:ext cx="5461459" cy="11983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32677" y="3481388"/>
            <a:ext cx="5022327" cy="30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18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Transport &amp; API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332677" y="3924300"/>
            <a:ext cx="5022327" cy="392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CORS whitelisting, environment-variable secret management, input validation middleware</a:t>
            </a:r>
            <a:endParaRPr lang="en-US" sz="12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75012" y="4637782"/>
            <a:ext cx="5461459" cy="139461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32677" y="4819253"/>
            <a:ext cx="5022327" cy="30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18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&amp; Execution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6332677" y="5262166"/>
            <a:ext cx="5022327" cy="588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WebCrypto AES-GCM encrypted local backups, room-level isolation, sandboxed execution workers, no persistent plaintext secrets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749187" y="6457255"/>
            <a:ext cx="5310253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SyncCode NextGen • GL Bajaj Institute of Technology &amp;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3442"/>
            <a:ext cx="10868745" cy="507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50" spc="-3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Evaluation, Contributions &amp; References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305322"/>
            <a:ext cx="582865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spc="-15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Evaluation Dimensions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61475" y="1745357"/>
            <a:ext cx="67864" cy="67866"/>
          </a:xfrm>
          <a:prstGeom prst="ellipse">
            <a:avLst/>
          </a:prstGeom>
          <a:solidFill>
            <a:srgbClr val="FF954F"/>
          </a:solidFill>
          <a:ln/>
        </p:spPr>
      </p:sp>
      <p:sp>
        <p:nvSpPr>
          <p:cNvPr id="5" name="Text 3"/>
          <p:cNvSpPr/>
          <p:nvPr/>
        </p:nvSpPr>
        <p:spPr>
          <a:xfrm>
            <a:off x="826968" y="1668959"/>
            <a:ext cx="566316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spc="-15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Synchronisation Latency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6968" y="2020391"/>
            <a:ext cx="5663165" cy="303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Socket.IO delta propagation observed to be consistently low on LAN and moderate on WAN; acceptable for collaborative editing scenarios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61475" y="2595463"/>
            <a:ext cx="67864" cy="67866"/>
          </a:xfrm>
          <a:prstGeom prst="ellipse">
            <a:avLst/>
          </a:prstGeom>
          <a:solidFill>
            <a:srgbClr val="FF954F"/>
          </a:solidFill>
          <a:ln/>
        </p:spPr>
      </p:sp>
      <p:sp>
        <p:nvSpPr>
          <p:cNvPr id="8" name="Text 6"/>
          <p:cNvSpPr/>
          <p:nvPr/>
        </p:nvSpPr>
        <p:spPr>
          <a:xfrm>
            <a:off x="826968" y="2519065"/>
            <a:ext cx="566316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spc="-15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Recovery Reliability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6968" y="2870498"/>
            <a:ext cx="5663165" cy="303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Encrypted local snapshot and MongoDB revision history together enable full session recovery after peer disconnection or browser crash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1475" y="3445570"/>
            <a:ext cx="67864" cy="67866"/>
          </a:xfrm>
          <a:prstGeom prst="ellipse">
            <a:avLst/>
          </a:prstGeom>
          <a:solidFill>
            <a:srgbClr val="FF954F"/>
          </a:solidFill>
          <a:ln/>
        </p:spPr>
      </p:sp>
      <p:sp>
        <p:nvSpPr>
          <p:cNvPr id="11" name="Text 9"/>
          <p:cNvSpPr/>
          <p:nvPr/>
        </p:nvSpPr>
        <p:spPr>
          <a:xfrm>
            <a:off x="826968" y="3369171"/>
            <a:ext cx="566316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spc="-15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AI Utility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6968" y="3720604"/>
            <a:ext cx="5663165" cy="303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Gemini-compatible provider delivers contextually relevant suggestions, review annotations, and test stubs with acceptable round-trip latency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1475" y="4295676"/>
            <a:ext cx="67864" cy="67866"/>
          </a:xfrm>
          <a:prstGeom prst="ellipse">
            <a:avLst/>
          </a:prstGeom>
          <a:solidFill>
            <a:srgbClr val="FF954F"/>
          </a:solidFill>
          <a:ln/>
        </p:spPr>
      </p:sp>
      <p:sp>
        <p:nvSpPr>
          <p:cNvPr id="14" name="Text 12"/>
          <p:cNvSpPr/>
          <p:nvPr/>
        </p:nvSpPr>
        <p:spPr>
          <a:xfrm>
            <a:off x="826968" y="4219277"/>
            <a:ext cx="566316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spc="-15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Execution Isolation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6968" y="4570710"/>
            <a:ext cx="5663165" cy="303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Worker-based execution manager prevents host-process pollution; output correctly streamed back to requesting client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1475" y="4983956"/>
            <a:ext cx="582865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spc="-15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Research Contributions &amp; Future Scope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1475" y="5335389"/>
            <a:ext cx="5828658" cy="75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SyncCode NextGen demonstrates a cohesive architecture unifying real-time collaboration, encrypted persistence, and AI-augmented development within a single browser-native environment. Future work includes full OT/CRDT-based conflict resolution, production-grade E2EE, offline-first PWA support, and multi-language execution sandboxing.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27865" y="1305322"/>
            <a:ext cx="470860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spc="-15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References</a:t>
            </a:r>
            <a:endParaRPr lang="en-US" sz="15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08816" y="1649909"/>
            <a:ext cx="2312334" cy="49321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001791" y="1668959"/>
            <a:ext cx="2119359" cy="45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050" b="1" u="sng" dirty="0">
                <a:solidFill>
                  <a:srgbClr val="FF95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IEEE Xplore Digital Library</a:t>
            </a:r>
            <a:pPr algn="l"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Collaborative systems and real-time synchronisation research</a:t>
            </a:r>
            <a:endParaRPr lang="en-US" sz="105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24136" y="1649909"/>
            <a:ext cx="2312334" cy="49321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417112" y="1668959"/>
            <a:ext cx="2119359" cy="303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050" b="1" u="sng" dirty="0">
                <a:solidFill>
                  <a:srgbClr val="FF95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6455</a:t>
            </a:r>
            <a:pPr algn="l"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The WebSocket Protocol (IETF)</a:t>
            </a:r>
            <a:endParaRPr lang="en-US" sz="10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08816" y="2300288"/>
            <a:ext cx="2312334" cy="49321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001791" y="2319337"/>
            <a:ext cx="2119359" cy="45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050" b="1" u="sng" dirty="0">
                <a:solidFill>
                  <a:srgbClr val="FF95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Socket.IO Documentation</a:t>
            </a:r>
            <a:pPr algn="l"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Real-time bidirectional event-based communication</a:t>
            </a:r>
            <a:endParaRPr lang="en-US" sz="105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24136" y="2300288"/>
            <a:ext cx="2312334" cy="49321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417112" y="2319337"/>
            <a:ext cx="2119359" cy="45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050" b="1" u="sng" dirty="0">
                <a:solidFill>
                  <a:srgbClr val="FF95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React Documentation</a:t>
            </a:r>
            <a:pPr algn="l"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Component model and hooks API reference</a:t>
            </a:r>
            <a:endParaRPr lang="en-US" sz="10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08816" y="2950666"/>
            <a:ext cx="2312334" cy="49321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001791" y="2969716"/>
            <a:ext cx="2119359" cy="303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050" b="1" u="sng" dirty="0">
                <a:solidFill>
                  <a:srgbClr val="FF95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Monaco Editor</a:t>
            </a:r>
            <a:pPr algn="l"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Microsoft's browser-based code editor</a:t>
            </a:r>
            <a:endParaRPr lang="en-US" sz="105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224136" y="2950666"/>
            <a:ext cx="2312334" cy="49321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417112" y="2969716"/>
            <a:ext cx="2119359" cy="45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050" b="1" u="sng" dirty="0">
                <a:solidFill>
                  <a:srgbClr val="FF95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MongoDB Documentation</a:t>
            </a:r>
            <a:pPr algn="l"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Document model and Mongoose ODM</a:t>
            </a:r>
            <a:endParaRPr lang="en-US" sz="105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808816" y="3601045"/>
            <a:ext cx="2312334" cy="49321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001791" y="3620095"/>
            <a:ext cx="2119359" cy="45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050" b="1" u="sng" dirty="0">
                <a:solidFill>
                  <a:srgbClr val="FF95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  <a:hlinkClick r:id="rId2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 Crypto API</a:t>
            </a:r>
            <a:pPr algn="l"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W3C cryptographic primitives in the browser</a:t>
            </a:r>
            <a:endParaRPr lang="en-US" sz="105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224136" y="3601045"/>
            <a:ext cx="2312334" cy="493216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417112" y="3620095"/>
            <a:ext cx="2119359" cy="303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050" b="1" u="sng" dirty="0">
                <a:solidFill>
                  <a:srgbClr val="FF95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  <a:hlinkClick r:id="rId2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WebRTC</a:t>
            </a:r>
            <a:pPr algn="l"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Peer-to-peer communication APIs</a:t>
            </a:r>
            <a:endParaRPr lang="en-US" sz="105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08816" y="4251424"/>
            <a:ext cx="2312334" cy="493216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001791" y="4270474"/>
            <a:ext cx="2119359" cy="45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050" b="1" u="sng" dirty="0">
                <a:solidFill>
                  <a:srgbClr val="FF95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  <a:hlinkClick r:id="rId2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GitHub Repository</a:t>
            </a:r>
            <a:pPr algn="l"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SyncCode NextGen source code</a:t>
            </a:r>
            <a:endParaRPr lang="en-US" sz="105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224136" y="4251424"/>
            <a:ext cx="2312334" cy="493216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9417112" y="4270474"/>
            <a:ext cx="2119359" cy="45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050" b="1" u="sng" dirty="0">
                <a:solidFill>
                  <a:srgbClr val="FF95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  <a:hlinkClick r:id="rId3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GL Bajaj Institute of Technology &amp; Management</a:t>
            </a:r>
            <a:pPr algn="l"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Greater Noida</a:t>
            </a:r>
            <a:endParaRPr lang="en-US" sz="1050" dirty="0"/>
          </a:p>
        </p:txBody>
      </p:sp>
      <p:sp>
        <p:nvSpPr>
          <p:cNvPr id="39" name="Text 27"/>
          <p:cNvSpPr/>
          <p:nvPr/>
        </p:nvSpPr>
        <p:spPr>
          <a:xfrm>
            <a:off x="6749187" y="6457255"/>
            <a:ext cx="5310253" cy="158750"/>
          </a:xfrm>
          <a:prstGeom prst="rect">
            <a:avLst/>
          </a:prstGeom>
          <a:noFill/>
          <a:ln/>
        </p:spPr>
        <p:txBody>
          <a:bodyPr wrap="none" lIns="59541" tIns="0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SyncCode NextGen • GL Bajaj Institute of Technology &amp; Management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954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